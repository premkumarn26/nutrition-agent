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10"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1573161"/>
            <a:ext cx="10515600" cy="2989314"/>
          </a:xfrm>
        </p:spPr>
        <p:txBody>
          <a:bodyPr>
            <a:normAutofit fontScale="90000"/>
          </a:bodyPr>
          <a:lstStyle/>
          <a:p>
            <a:pPr algn="ctr"/>
            <a:r>
              <a:rPr lang="en-US" b="1" u="sng"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dirty="0">
                <a:solidFill>
                  <a:schemeClr val="tx1">
                    <a:lumMod val="65000"/>
                    <a:lumOff val="35000"/>
                  </a:schemeClr>
                </a:solidFill>
              </a:rPr>
              <a:t>“EXPLORING THE POWER OF AGENTIC AI WITH IBM GRANITE AND IBM BOB”</a:t>
            </a:r>
            <a:endParaRPr lang="en-IN" dirty="0">
              <a:solidFill>
                <a:schemeClr val="tx1">
                  <a:lumMod val="65000"/>
                  <a:lumOff val="35000"/>
                </a:schemeClr>
              </a:solidFill>
            </a:endParaRPr>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64544677"/>
              </p:ext>
            </p:extLst>
          </p:nvPr>
        </p:nvGraphicFramePr>
        <p:xfrm>
          <a:off x="766892" y="2594750"/>
          <a:ext cx="10517336" cy="3661239"/>
        </p:xfrm>
        <a:graphic>
          <a:graphicData uri="http://schemas.openxmlformats.org/drawingml/2006/table">
            <a:tbl>
              <a:tblPr>
                <a:noFill/>
                <a:tableStyleId>{0AAD8F4D-43EB-41E5-8A38-28AB6DFB1B60}</a:tableStyleId>
              </a:tblPr>
              <a:tblGrid>
                <a:gridCol w="2344316">
                  <a:extLst>
                    <a:ext uri="{9D8B030D-6E8A-4147-A177-3AD203B41FA5}">
                      <a16:colId xmlns:a16="http://schemas.microsoft.com/office/drawing/2014/main" val="20000"/>
                    </a:ext>
                  </a:extLst>
                </a:gridCol>
                <a:gridCol w="2561417">
                  <a:extLst>
                    <a:ext uri="{9D8B030D-6E8A-4147-A177-3AD203B41FA5}">
                      <a16:colId xmlns:a16="http://schemas.microsoft.com/office/drawing/2014/main" val="20002"/>
                    </a:ext>
                  </a:extLst>
                </a:gridCol>
                <a:gridCol w="3468133">
                  <a:extLst>
                    <a:ext uri="{9D8B030D-6E8A-4147-A177-3AD203B41FA5}">
                      <a16:colId xmlns:a16="http://schemas.microsoft.com/office/drawing/2014/main" val="20003"/>
                    </a:ext>
                  </a:extLst>
                </a:gridCol>
                <a:gridCol w="2143470">
                  <a:extLst>
                    <a:ext uri="{9D8B030D-6E8A-4147-A177-3AD203B41FA5}">
                      <a16:colId xmlns:a16="http://schemas.microsoft.com/office/drawing/2014/main" val="20004"/>
                    </a:ext>
                  </a:extLst>
                </a:gridCol>
              </a:tblGrid>
              <a:tr h="1644228">
                <a:tc>
                  <a:txBody>
                    <a:bodyPr/>
                    <a:lstStyle/>
                    <a:p>
                      <a:pPr marL="0" marR="0" lvl="0" indent="0" algn="ctr" rtl="0">
                        <a:spcBef>
                          <a:spcPts val="0"/>
                        </a:spcBef>
                        <a:spcAft>
                          <a:spcPts val="0"/>
                        </a:spcAft>
                        <a:buNone/>
                      </a:pPr>
                      <a:r>
                        <a:rPr lang="en-US" sz="1800" b="1" u="none" strike="noStrike" cap="none" dirty="0">
                          <a:effectLst>
                            <a:outerShdw blurRad="38100" dist="38100" dir="2700000" algn="tl">
                              <a:srgbClr val="000000">
                                <a:alpha val="43137"/>
                              </a:srgbClr>
                            </a:outerShdw>
                          </a:effectLst>
                        </a:rPr>
                        <a:t>STUDENT NAME</a:t>
                      </a: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b="1" u="none" strike="noStrike" cap="none" dirty="0">
                          <a:effectLst>
                            <a:outerShdw blurRad="38100" dist="38100" dir="2700000" algn="tl">
                              <a:srgbClr val="000000">
                                <a:alpha val="43137"/>
                              </a:srgbClr>
                            </a:outerShdw>
                          </a:effectLst>
                        </a:rPr>
                        <a:t>RECENT PASSPORT PHOTO</a:t>
                      </a: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effectLst>
                            <a:outerShdw blurRad="38100" dist="38100" dir="2700000" algn="tl">
                              <a:srgbClr val="000000">
                                <a:alpha val="43137"/>
                              </a:srgbClr>
                            </a:outerShdw>
                          </a:effectLst>
                          <a:latin typeface="Arial"/>
                          <a:ea typeface="Calibri"/>
                          <a:cs typeface="Arial"/>
                          <a:sym typeface="Calibri"/>
                        </a:rPr>
                        <a:t>EMAIL ID </a:t>
                      </a:r>
                      <a:endParaRPr lang="en-US" sz="1800" b="1" i="0" u="none" strike="noStrike" cap="none" dirty="0">
                        <a:solidFill>
                          <a:srgbClr val="000000"/>
                        </a:solidFill>
                        <a:effectLst>
                          <a:outerShdw blurRad="38100" dist="38100" dir="2700000" algn="tl">
                            <a:srgbClr val="000000">
                              <a:alpha val="43137"/>
                            </a:srgbClr>
                          </a:outerShdw>
                        </a:effectLst>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dirty="0">
                          <a:solidFill>
                            <a:srgbClr val="000000"/>
                          </a:solidFill>
                          <a:effectLst>
                            <a:outerShdw blurRad="38100" dist="38100" dir="2700000" algn="tl">
                              <a:srgbClr val="000000">
                                <a:alpha val="43137"/>
                              </a:srgbClr>
                            </a:outerShdw>
                          </a:effectLst>
                          <a:latin typeface="Arial"/>
                          <a:ea typeface="Calibri"/>
                          <a:cs typeface="Arial"/>
                          <a:sym typeface="Calibri"/>
                        </a:rPr>
                        <a:t>MOBILE NUMBER</a:t>
                      </a:r>
                      <a:endParaRPr lang="en-US" sz="1800" b="1" i="0" u="none" strike="noStrike" cap="none" dirty="0">
                        <a:solidFill>
                          <a:srgbClr val="000000"/>
                        </a:solidFill>
                        <a:effectLst>
                          <a:outerShdw blurRad="38100" dist="38100" dir="2700000" algn="tl">
                            <a:srgbClr val="000000">
                              <a:alpha val="43137"/>
                            </a:srgbClr>
                          </a:outerShdw>
                        </a:effectLst>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dirty="0">
                          <a:solidFill>
                            <a:srgbClr val="000000"/>
                          </a:solidFill>
                          <a:effectLst>
                            <a:outerShdw blurRad="38100" dist="38100" dir="2700000" algn="tl">
                              <a:srgbClr val="000000">
                                <a:alpha val="43137"/>
                              </a:srgbClr>
                            </a:outerShdw>
                          </a:effectLst>
                          <a:latin typeface="Arial"/>
                          <a:ea typeface="Calibri"/>
                          <a:cs typeface="Arial"/>
                          <a:sym typeface="Calibri"/>
                        </a:rPr>
                        <a:t>[WHATSAPP] </a:t>
                      </a:r>
                      <a:endParaRPr lang="en-US" sz="1800" b="1" i="0" u="none" strike="noStrike" cap="none" dirty="0">
                        <a:solidFill>
                          <a:srgbClr val="000000"/>
                        </a:solidFill>
                        <a:effectLst>
                          <a:outerShdw blurRad="38100" dist="38100" dir="2700000" algn="tl">
                            <a:srgbClr val="000000">
                              <a:alpha val="43137"/>
                            </a:srgbClr>
                          </a:outerShdw>
                        </a:effectLst>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01701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4815455"/>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766892" y="1493023"/>
            <a:ext cx="10280254"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DOMAIN OF  PROJECT – </a:t>
            </a:r>
            <a:r>
              <a:rPr lang="en-US" sz="2800" b="1" dirty="0">
                <a:effectLst>
                  <a:outerShdw blurRad="38100" dist="38100" dir="2700000" algn="tl">
                    <a:srgbClr val="000000">
                      <a:alpha val="43137"/>
                    </a:srgbClr>
                  </a:outerShdw>
                </a:effectLst>
                <a:highlight>
                  <a:srgbClr val="FFFF00"/>
                </a:highlight>
              </a:rPr>
              <a:t> </a:t>
            </a:r>
            <a:r>
              <a:rPr lang="en-US" sz="2800" b="1" u="sng" dirty="0">
                <a:effectLst>
                  <a:outerShdw blurRad="38100" dist="38100" dir="2700000" algn="tl">
                    <a:srgbClr val="000000">
                      <a:alpha val="43137"/>
                    </a:srgbClr>
                  </a:outerShdw>
                </a:effectLst>
                <a:highlight>
                  <a:srgbClr val="FFFF00"/>
                </a:highlight>
              </a:rPr>
              <a:t>“HEALTHCARE”</a:t>
            </a:r>
            <a:endParaRPr lang="en-IN" sz="2800" b="1" u="sng" dirty="0">
              <a:effectLst>
                <a:outerShdw blurRad="38100" dist="38100" dir="2700000" algn="tl">
                  <a:srgbClr val="000000">
                    <a:alpha val="43137"/>
                  </a:srgbClr>
                </a:outerShdw>
              </a:effectLst>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766892" y="712853"/>
            <a:ext cx="9581177"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PROJECT TILE –  </a:t>
            </a:r>
            <a:r>
              <a:rPr lang="en-US" sz="2800" b="1" u="sng" dirty="0">
                <a:effectLst>
                  <a:outerShdw blurRad="38100" dist="38100" dir="2700000" algn="tl">
                    <a:srgbClr val="000000">
                      <a:alpha val="43137"/>
                    </a:srgbClr>
                  </a:outerShdw>
                </a:effectLst>
              </a:rPr>
              <a:t>“NUTRITION AGENT”</a:t>
            </a:r>
            <a:endParaRPr lang="en-IN" sz="2800" b="1" u="sng" dirty="0">
              <a:effectLst>
                <a:outerShdw blurRad="38100" dist="38100" dir="2700000" algn="tl">
                  <a:srgbClr val="000000">
                    <a:alpha val="43137"/>
                  </a:srgbClr>
                </a:outerShdw>
              </a:effectLst>
              <a:highlight>
                <a:srgbClr val="FFFF00"/>
              </a:highlight>
            </a:endParaRPr>
          </a:p>
        </p:txBody>
      </p:sp>
      <p:pic>
        <p:nvPicPr>
          <p:cNvPr id="5" name="Picture 4" descr="A person in a suit and tie&#10;&#10;AI-generated content may be incorrect.">
            <a:extLst>
              <a:ext uri="{FF2B5EF4-FFF2-40B4-BE49-F238E27FC236}">
                <a16:creationId xmlns:a16="http://schemas.microsoft.com/office/drawing/2014/main" id="{37E7A0FA-44E7-7A3B-5E8F-CA7CEA49C51F}"/>
              </a:ext>
            </a:extLst>
          </p:cNvPr>
          <p:cNvPicPr>
            <a:picLocks noChangeAspect="1"/>
          </p:cNvPicPr>
          <p:nvPr/>
        </p:nvPicPr>
        <p:blipFill>
          <a:blip r:embed="rId4"/>
          <a:stretch>
            <a:fillRect/>
          </a:stretch>
        </p:blipFill>
        <p:spPr>
          <a:xfrm>
            <a:off x="3392129" y="4344551"/>
            <a:ext cx="1956619" cy="1800596"/>
          </a:xfrm>
          <a:prstGeom prst="rect">
            <a:avLst/>
          </a:prstGeom>
        </p:spPr>
      </p:pic>
      <p:sp>
        <p:nvSpPr>
          <p:cNvPr id="6" name="TextBox 5">
            <a:extLst>
              <a:ext uri="{FF2B5EF4-FFF2-40B4-BE49-F238E27FC236}">
                <a16:creationId xmlns:a16="http://schemas.microsoft.com/office/drawing/2014/main" id="{74CD7AE7-A717-EDDA-6A8E-96D47808841E}"/>
              </a:ext>
            </a:extLst>
          </p:cNvPr>
          <p:cNvSpPr txBox="1"/>
          <p:nvPr/>
        </p:nvSpPr>
        <p:spPr>
          <a:xfrm>
            <a:off x="907772" y="5079435"/>
            <a:ext cx="2140330" cy="400110"/>
          </a:xfrm>
          <a:prstGeom prst="rect">
            <a:avLst/>
          </a:prstGeom>
          <a:noFill/>
        </p:spPr>
        <p:txBody>
          <a:bodyPr wrap="none" rtlCol="0">
            <a:spAutoFit/>
          </a:bodyPr>
          <a:lstStyle/>
          <a:p>
            <a:r>
              <a:rPr lang="en-US" sz="2000" b="1" dirty="0">
                <a:effectLst>
                  <a:outerShdw blurRad="38100" dist="38100" dir="2700000" algn="tl">
                    <a:srgbClr val="000000">
                      <a:alpha val="43137"/>
                    </a:srgbClr>
                  </a:outerShdw>
                </a:effectLst>
              </a:rPr>
              <a:t>PREMKUMAR N</a:t>
            </a:r>
            <a:endParaRPr lang="en-IN" sz="2000" b="1" dirty="0">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9FF8F5A3-AAC0-D5C8-2A17-E5635640D4E1}"/>
              </a:ext>
            </a:extLst>
          </p:cNvPr>
          <p:cNvSpPr txBox="1"/>
          <p:nvPr/>
        </p:nvSpPr>
        <p:spPr>
          <a:xfrm>
            <a:off x="6096000" y="5079435"/>
            <a:ext cx="2842445" cy="400110"/>
          </a:xfrm>
          <a:prstGeom prst="rect">
            <a:avLst/>
          </a:prstGeom>
          <a:noFill/>
        </p:spPr>
        <p:txBody>
          <a:bodyPr wrap="none" rtlCol="0">
            <a:spAutoFit/>
          </a:bodyPr>
          <a:lstStyle/>
          <a:p>
            <a:r>
              <a:rPr lang="en-US" sz="2000" b="1" dirty="0">
                <a:effectLst>
                  <a:outerShdw blurRad="38100" dist="38100" dir="2700000" algn="tl">
                    <a:srgbClr val="000000">
                      <a:alpha val="43137"/>
                    </a:srgbClr>
                  </a:outerShdw>
                </a:effectLst>
              </a:rPr>
              <a:t>25cs167@rmkec.ac.in</a:t>
            </a:r>
            <a:endParaRPr lang="en-IN" sz="20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D6D984CA-E1F6-4729-AB4C-E9B67A904D0D}"/>
              </a:ext>
            </a:extLst>
          </p:cNvPr>
          <p:cNvSpPr txBox="1"/>
          <p:nvPr/>
        </p:nvSpPr>
        <p:spPr>
          <a:xfrm>
            <a:off x="9435807" y="5079435"/>
            <a:ext cx="1611339" cy="400110"/>
          </a:xfrm>
          <a:prstGeom prst="rect">
            <a:avLst/>
          </a:prstGeom>
          <a:noFill/>
        </p:spPr>
        <p:txBody>
          <a:bodyPr wrap="none" rtlCol="0">
            <a:spAutoFit/>
          </a:bodyPr>
          <a:lstStyle/>
          <a:p>
            <a:r>
              <a:rPr lang="en-US" sz="2000" b="1" dirty="0">
                <a:effectLst>
                  <a:outerShdw blurRad="38100" dist="38100" dir="2700000" algn="tl">
                    <a:srgbClr val="000000">
                      <a:alpha val="43137"/>
                    </a:srgbClr>
                  </a:outerShdw>
                </a:effectLst>
              </a:rPr>
              <a:t>7708625185</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139869"/>
          </a:xfrm>
          <a:prstGeom prst="rect">
            <a:avLst/>
          </a:prstGeom>
          <a:noFill/>
        </p:spPr>
        <p:txBody>
          <a:bodyPr wrap="square" rtlCol="0">
            <a:spAutoFit/>
          </a:bodyPr>
          <a:lstStyle/>
          <a:p>
            <a:pPr fontAlgn="base"/>
            <a:r>
              <a:rPr lang="en-US" sz="2000" b="1" dirty="0">
                <a:effectLst>
                  <a:outerShdw blurRad="38100" dist="38100" dir="2700000" algn="tl">
                    <a:srgbClr val="000000">
                      <a:alpha val="43137"/>
                    </a:srgbClr>
                  </a:outerShdw>
                </a:effectLst>
              </a:rPr>
              <a:t>PROBLEM STATEMENT </a:t>
            </a:r>
            <a:r>
              <a:rPr lang="en-US" sz="2000" b="1" dirty="0"/>
              <a:t>: </a:t>
            </a:r>
            <a:r>
              <a:rPr lang="en-US" sz="2000" b="1" dirty="0">
                <a:highlight>
                  <a:srgbClr val="FFFF00"/>
                </a:highlight>
              </a:rPr>
              <a:t>NUTRITION  AGENT </a:t>
            </a:r>
          </a:p>
          <a:p>
            <a:pPr fontAlgn="base"/>
            <a:endParaRPr lang="en-US" b="1" dirty="0"/>
          </a:p>
          <a:p>
            <a:pPr fontAlgn="base"/>
            <a:r>
              <a:rPr lang="en-US" b="1" dirty="0"/>
              <a:t>THE CHALLENGE </a:t>
            </a:r>
            <a:r>
              <a:rPr lang="en-US" dirty="0"/>
              <a:t>– </a:t>
            </a:r>
          </a:p>
          <a:p>
            <a:pPr fontAlgn="base"/>
            <a:r>
              <a:rPr lang="en-US" dirty="0"/>
              <a:t>In an era where health awareness is growing, individuals increasingly seek personalized nutrition guidance. However, most existing tools provide generic diet plans, lack real-time adaptability, and fail to consider a person's holistic lifestyle, cultural preferences, allergies, and evolving health conditions. Furthermore, dieticians and nutritionists face limitations in scaling personalized consultations due to time and resource constraints. </a:t>
            </a:r>
          </a:p>
          <a:p>
            <a:pPr fontAlgn="base"/>
            <a:endParaRPr lang="en-US" dirty="0"/>
          </a:p>
          <a:p>
            <a:pPr fontAlgn="base"/>
            <a:r>
              <a:rPr lang="en-US" b="1" dirty="0"/>
              <a:t>THE OBJECTIVE</a:t>
            </a:r>
            <a:r>
              <a:rPr lang="en-US" dirty="0"/>
              <a:t> - </a:t>
            </a:r>
          </a:p>
          <a:p>
            <a:pPr fontAlgn="base"/>
            <a:r>
              <a:rPr lang="en-US" dirty="0"/>
              <a:t>Generative AI presents a groundbreaking opportunity to revolutionize this space by enabling an intelligent, interactive, and adaptive virtual nutrition assistant. By leveraging natural language processing (NLP), multimodal understanding, and large-scale dietary databases, an AI-powered assistant can generate dynamic meal plans, recommend smart food swaps, and explain nutritional choices—all tailored to the individual. This project aims to develop </a:t>
            </a:r>
            <a:r>
              <a:rPr lang="en-US" dirty="0">
                <a:highlight>
                  <a:srgbClr val="FFFF00"/>
                </a:highlight>
              </a:rPr>
              <a:t>“The Smartest AI Nutrition Assistant” </a:t>
            </a:r>
            <a:r>
              <a:rPr lang="en-US" dirty="0"/>
              <a:t>using state-of-the-art generative AI models that:</a:t>
            </a:r>
          </a:p>
          <a:p>
            <a:pPr fontAlgn="base"/>
            <a:endParaRPr lang="en-US" dirty="0"/>
          </a:p>
          <a:p>
            <a:pPr fontAlgn="base"/>
            <a:r>
              <a:rPr lang="en-US" dirty="0"/>
              <a:t> • Understand user inputs via text, voice, or image (e.g., food photos, grocery labels) </a:t>
            </a:r>
          </a:p>
          <a:p>
            <a:pPr fontAlgn="base"/>
            <a:r>
              <a:rPr lang="en-US" dirty="0"/>
              <a:t> • Generate personalized meal plans based on health goals, medical conditions, fitness routines, and preferences</a:t>
            </a:r>
          </a:p>
          <a:p>
            <a:pPr fontAlgn="base"/>
            <a:r>
              <a:rPr lang="en-US" dirty="0"/>
              <a:t> • Offer contextual explanations (e.g., “Why is this food better?”) </a:t>
            </a:r>
          </a:p>
          <a:p>
            <a:pPr fontAlgn="base"/>
            <a:r>
              <a:rPr lang="en-US" dirty="0"/>
              <a:t> • Adapt suggestions dynamically with continuous feedback</a:t>
            </a:r>
          </a:p>
          <a:p>
            <a:pPr fontAlgn="base"/>
            <a:endParaRPr lang="en-US" dirty="0"/>
          </a:p>
          <a:p>
            <a:pPr fontAlgn="base"/>
            <a:r>
              <a:rPr lang="en-US" dirty="0"/>
              <a:t>By integrating health data, food databases, and LLM-powered reasoning, the solution will bridge the gap between one-size-fits-all diet apps and in-person nutrition counselling—delivering an AI that thinks, learns, and cares like a real nutrition expert.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u="sng" dirty="0">
                <a:effectLst>
                  <a:outerShdw blurRad="38100" dist="38100" dir="2700000" algn="tl">
                    <a:srgbClr val="000000">
                      <a:alpha val="43137"/>
                    </a:srgbClr>
                  </a:outerShdw>
                </a:effectLst>
              </a:rPr>
              <a:t>PROBLEM STATEMENT -</a:t>
            </a:r>
            <a:endParaRPr lang="en-IN" sz="2800" b="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a:effectLst>
                  <a:outerShdw blurRad="38100" dist="38100" dir="2700000" algn="tl">
                    <a:srgbClr val="000000">
                      <a:alpha val="43137"/>
                    </a:srgbClr>
                  </a:outerShdw>
                </a:effectLst>
              </a:rPr>
              <a:t>PROPOSED SOLUTION</a:t>
            </a:r>
            <a:r>
              <a:rPr lang="en-US" b="1" dirty="0"/>
              <a:t>: </a:t>
            </a:r>
            <a:r>
              <a:rPr lang="en-US" b="1" dirty="0">
                <a:highlight>
                  <a:srgbClr val="FFFF00"/>
                </a:highlight>
              </a:rPr>
              <a:t>AI-POWERED NUTRITION AGENT</a:t>
            </a:r>
          </a:p>
          <a:p>
            <a:endParaRPr lang="en-US" b="1" dirty="0">
              <a:highlight>
                <a:srgbClr val="FFFF00"/>
              </a:highlight>
            </a:endParaRP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endParaRPr lang="en-US" dirty="0"/>
          </a:p>
          <a:p>
            <a:r>
              <a:rPr lang="en-US" dirty="0"/>
              <a:t>The system consists of four key agents:</a:t>
            </a:r>
          </a:p>
          <a:p>
            <a:r>
              <a:rPr lang="en-US" b="1" dirty="0">
                <a:highlight>
                  <a:srgbClr val="FFFF00"/>
                </a:highlight>
              </a:rPr>
              <a:t>Nutrition Knowledge Agent</a:t>
            </a:r>
            <a:r>
              <a:rPr lang="en-US" dirty="0">
                <a:highlight>
                  <a:srgbClr val="FFFF00"/>
                </a:highlight>
              </a:rPr>
              <a:t> </a:t>
            </a:r>
            <a:r>
              <a:rPr lang="en-US" dirty="0"/>
              <a:t>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highlight>
                  <a:srgbClr val="FFFF00"/>
                </a:highlight>
              </a:rPr>
              <a:t>Health Advisory Agent</a:t>
            </a:r>
            <a:r>
              <a:rPr lang="en-US" dirty="0">
                <a:highlight>
                  <a:srgbClr val="FFFF00"/>
                </a:highlight>
              </a:rPr>
              <a:t> </a:t>
            </a:r>
            <a:r>
              <a:rPr lang="en-US" dirty="0"/>
              <a:t>provides preventive health suggestions, including disease-specific diets (e.g., diabetes-friendly or heart-healthy plans). </a:t>
            </a:r>
          </a:p>
          <a:p>
            <a:r>
              <a:rPr lang="en-US" b="1" dirty="0">
                <a:highlight>
                  <a:srgbClr val="FFFF00"/>
                </a:highlight>
              </a:rPr>
              <a:t>Food Log &amp; Feedback Agent</a:t>
            </a:r>
            <a:r>
              <a:rPr lang="en-US" dirty="0">
                <a:highlight>
                  <a:srgbClr val="FFFF00"/>
                </a:highlight>
              </a:rPr>
              <a:t> </a:t>
            </a:r>
            <a:r>
              <a:rPr lang="en-US" dirty="0"/>
              <a:t>allows users to log meals via text, voice, or images and delivers instant nutritional analysis with actionable feedback. </a:t>
            </a:r>
          </a:p>
          <a:p>
            <a:r>
              <a:rPr lang="en-US" dirty="0"/>
              <a:t>The solution includes a </a:t>
            </a:r>
            <a:r>
              <a:rPr lang="en-US" b="1" dirty="0">
                <a:highlight>
                  <a:srgbClr val="FFFF00"/>
                </a:highlight>
              </a:rPr>
              <a:t>user-friendly dashboard</a:t>
            </a:r>
            <a:r>
              <a:rPr lang="en-US" dirty="0">
                <a:highlight>
                  <a:srgbClr val="FFFF00"/>
                </a:highlight>
              </a:rPr>
              <a:t> </a:t>
            </a:r>
            <a:r>
              <a:rPr lang="en-US" dirty="0"/>
              <a:t>(built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highlight>
                  <a:srgbClr val="FFFF00"/>
                </a:highlight>
              </a:rPr>
              <a:t>end-to-end intelligent nutrition assistant</a:t>
            </a:r>
            <a:r>
              <a:rPr lang="en-US" dirty="0">
                <a:highlight>
                  <a:srgbClr val="FFFF00"/>
                </a:highlight>
              </a:rPr>
              <a:t> </a:t>
            </a:r>
            <a:r>
              <a:rPr lang="en-US" dirty="0"/>
              <a:t>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72775"/>
            <a:ext cx="7214616" cy="523220"/>
          </a:xfrm>
          <a:prstGeom prst="rect">
            <a:avLst/>
          </a:prstGeom>
          <a:noFill/>
        </p:spPr>
        <p:txBody>
          <a:bodyPr wrap="square" rtlCol="0">
            <a:spAutoFit/>
          </a:bodyPr>
          <a:lstStyle/>
          <a:p>
            <a:r>
              <a:rPr lang="en-US" sz="2800" b="1" u="sng" dirty="0">
                <a:effectLst>
                  <a:outerShdw blurRad="38100" dist="38100" dir="2700000" algn="tl">
                    <a:srgbClr val="000000">
                      <a:alpha val="43137"/>
                    </a:srgbClr>
                  </a:outerShdw>
                </a:effectLst>
              </a:rPr>
              <a:t>PROPOSED SOLUTION -</a:t>
            </a:r>
            <a:endParaRPr lang="en-IN" sz="2800" b="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u="sng" dirty="0">
                <a:effectLst>
                  <a:outerShdw blurRad="38100" dist="38100" dir="2700000" algn="tl">
                    <a:srgbClr val="000000">
                      <a:alpha val="43137"/>
                    </a:srgbClr>
                  </a:outerShdw>
                </a:effectLst>
              </a:rPr>
              <a:t>TECHNOLOGY USED -</a:t>
            </a:r>
            <a:endParaRPr lang="en-IN" sz="2800" b="1" u="sng"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816608"/>
            <a:ext cx="10515600" cy="3847207"/>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 </a:t>
            </a:r>
            <a:r>
              <a:rPr lang="en-US" sz="1800" b="1" dirty="0"/>
              <a:t>For designing and orchestrating multi-agent workflows visually.</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IBM GRAINTE MODEL </a:t>
            </a:r>
            <a:r>
              <a:rPr lang="en-US" sz="1800" dirty="0"/>
              <a:t>- </a:t>
            </a:r>
            <a:r>
              <a:rPr lang="en-US" sz="1800" b="1" dirty="0"/>
              <a:t>For Example – </a:t>
            </a:r>
            <a:r>
              <a:rPr lang="en-US" sz="1800" b="1" dirty="0" err="1"/>
              <a:t>ibm</a:t>
            </a:r>
            <a:r>
              <a:rPr lang="en-US" sz="1800" b="1" dirty="0"/>
              <a:t>_</a:t>
            </a:r>
            <a:r>
              <a:rPr lang="en-IN" sz="1800" dirty="0"/>
              <a:t>granite-4-h-small</a:t>
            </a:r>
          </a:p>
          <a:p>
            <a:pPr marL="285750" indent="-285750">
              <a:buFont typeface="Arial" panose="020B0604020202020204" pitchFamily="34" charset="0"/>
              <a:buChar char="•"/>
            </a:pPr>
            <a:r>
              <a:rPr lang="en-US" sz="1800" b="1" dirty="0"/>
              <a:t>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a:t>
            </a:r>
            <a:r>
              <a:rPr lang="en-US" sz="1800" b="1" dirty="0"/>
              <a:t>It  provides the infrastructure to build, deploy, and scale the Nutrition Agent efficiently. IBM Cloud enables a </a:t>
            </a:r>
            <a:r>
              <a:rPr lang="en-US" sz="1800" b="1" dirty="0">
                <a:highlight>
                  <a:srgbClr val="FFFF00"/>
                </a:highlight>
              </a:rPr>
              <a:t>reliable, secure, and scalable environment </a:t>
            </a:r>
            <a:r>
              <a:rPr lang="en-US" sz="1800" b="1" dirty="0"/>
              <a:t>for deploying the Nutrition Agent.</a:t>
            </a:r>
          </a:p>
          <a:p>
            <a:endParaRPr lang="en-US" sz="1800" dirty="0"/>
          </a:p>
          <a:p>
            <a:pPr marL="285750" indent="-285750">
              <a:buFont typeface="Arial" panose="020B0604020202020204" pitchFamily="34" charset="0"/>
              <a:buChar char="•"/>
            </a:pPr>
            <a:r>
              <a:rPr lang="en-US" sz="1800" b="1" dirty="0"/>
              <a:t>IBM WATSONX.AI - For model deployment, embeddings, and AI governance</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9933765" cy="5206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u="sng" dirty="0">
                <a:effectLst>
                  <a:outerShdw blurRad="38100" dist="38100" dir="2700000" algn="tl">
                    <a:srgbClr val="000000">
                      <a:alpha val="43137"/>
                    </a:srgbClr>
                  </a:outerShdw>
                </a:effectLst>
                <a:sym typeface="Times New Roman"/>
              </a:rPr>
              <a:t>REQUIRED FILES CREATED USING IBM BOB -</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2828817" cy="5293757"/>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README.md</a:t>
            </a:r>
          </a:p>
          <a:p>
            <a:pPr marL="342900" indent="-342900">
              <a:buFont typeface="+mj-lt"/>
              <a:buAutoNum type="arabicPeriod"/>
            </a:pPr>
            <a:endParaRPr lang="en-US" sz="1800" dirty="0"/>
          </a:p>
          <a:p>
            <a:pPr marL="342900" indent="-342900">
              <a:buFont typeface="+mj-lt"/>
              <a:buAutoNum type="arabicPeriod"/>
            </a:pPr>
            <a:r>
              <a:rPr lang="en-US" sz="1800" dirty="0"/>
              <a:t>app.py 2</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Nutrition_tool.py</a:t>
            </a:r>
          </a:p>
          <a:p>
            <a:pPr marL="342900" indent="-342900">
              <a:buFont typeface="+mj-lt"/>
              <a:buAutoNum type="arabicPeriod"/>
            </a:pPr>
            <a:endParaRPr lang="en-US" sz="1800" dirty="0"/>
          </a:p>
          <a:p>
            <a:pPr marL="342900" indent="-342900">
              <a:buFont typeface="+mj-lt"/>
              <a:buAutoNum type="arabicPeriod"/>
            </a:pPr>
            <a:r>
              <a:rPr lang="en-US" sz="1800" dirty="0"/>
              <a:t> </a:t>
            </a:r>
            <a:r>
              <a:rPr lang="en-US" sz="1800" dirty="0" err="1"/>
              <a:t>pyvenv</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8643959" y="321036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screenshot of a computer program&#10;&#10;AI-generated content may be incorrect.">
            <a:extLst>
              <a:ext uri="{FF2B5EF4-FFF2-40B4-BE49-F238E27FC236}">
                <a16:creationId xmlns:a16="http://schemas.microsoft.com/office/drawing/2014/main" id="{73D116D9-0A07-0970-4448-294ABE3BBA69}"/>
              </a:ext>
            </a:extLst>
          </p:cNvPr>
          <p:cNvPicPr>
            <a:picLocks noChangeAspect="1"/>
          </p:cNvPicPr>
          <p:nvPr/>
        </p:nvPicPr>
        <p:blipFill>
          <a:blip r:embed="rId4"/>
          <a:stretch>
            <a:fillRect/>
          </a:stretch>
        </p:blipFill>
        <p:spPr>
          <a:xfrm>
            <a:off x="4014215" y="1860505"/>
            <a:ext cx="7868367" cy="4512863"/>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sng" strike="noStrike" cap="none" dirty="0">
                <a:solidFill>
                  <a:srgbClr val="051D3A"/>
                </a:solidFill>
                <a:effectLst>
                  <a:outerShdw blurRad="38100" dist="38100" dir="2700000" algn="tl">
                    <a:srgbClr val="000000">
                      <a:alpha val="43137"/>
                    </a:srgbClr>
                  </a:outerShdw>
                </a:effectLst>
                <a:latin typeface="Times New Roman"/>
                <a:ea typeface="Times New Roman"/>
                <a:cs typeface="Times New Roman"/>
                <a:sym typeface="Times New Roman"/>
              </a:rPr>
              <a:t>IBM BOB SCREENSHOTS:</a:t>
            </a:r>
            <a:endParaRPr sz="2400" b="1" u="sng" dirty="0">
              <a:effectLst>
                <a:outerShdw blurRad="38100" dist="38100" dir="2700000" algn="tl">
                  <a:srgbClr val="000000">
                    <a:alpha val="43137"/>
                  </a:srgbClr>
                </a:outerShdw>
              </a:effectLst>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3067665" y="1956619"/>
            <a:ext cx="5722372" cy="3576582"/>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C5140DB2-D3A3-D0DB-7192-8C80680B6DD3}"/>
              </a:ext>
            </a:extLst>
          </p:cNvPr>
          <p:cNvPicPr>
            <a:picLocks noChangeAspect="1"/>
          </p:cNvPicPr>
          <p:nvPr/>
        </p:nvPicPr>
        <p:blipFill>
          <a:blip r:embed="rId4"/>
          <a:stretch>
            <a:fillRect/>
          </a:stretch>
        </p:blipFill>
        <p:spPr>
          <a:xfrm>
            <a:off x="1494385" y="1226574"/>
            <a:ext cx="9904268" cy="440485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2084437" y="2222089"/>
            <a:ext cx="7104357" cy="2784201"/>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FE5E32B0-EBF1-020B-F12D-7809B5F321EC}"/>
              </a:ext>
            </a:extLst>
          </p:cNvPr>
          <p:cNvPicPr>
            <a:picLocks noChangeAspect="1"/>
          </p:cNvPicPr>
          <p:nvPr/>
        </p:nvPicPr>
        <p:blipFill>
          <a:blip r:embed="rId3"/>
          <a:stretch>
            <a:fillRect/>
          </a:stretch>
        </p:blipFill>
        <p:spPr>
          <a:xfrm>
            <a:off x="1110816" y="621575"/>
            <a:ext cx="9051597" cy="561485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7456036" cy="448508"/>
          </a:xfrm>
          <a:prstGeom prst="rect">
            <a:avLst/>
          </a:prstGeom>
          <a:noFill/>
          <a:ln>
            <a:noFill/>
          </a:ln>
        </p:spPr>
        <p:txBody>
          <a:bodyPr spcFirstLastPara="1" wrap="square" lIns="0" tIns="0" rIns="0" bIns="0" anchor="t" anchorCtr="0">
            <a:noAutofit/>
          </a:bodyPr>
          <a:lstStyle/>
          <a:p>
            <a:pPr lvl="0"/>
            <a:r>
              <a:rPr lang="en-US" sz="2800" b="1" u="sng" dirty="0">
                <a:solidFill>
                  <a:schemeClr val="dk1"/>
                </a:solidFill>
                <a:effectLst>
                  <a:outerShdw blurRad="38100" dist="38100" dir="2700000" algn="tl">
                    <a:srgbClr val="000000">
                      <a:alpha val="43137"/>
                    </a:srgbClr>
                  </a:outerShdw>
                </a:effectLst>
                <a:latin typeface="Calibri"/>
                <a:ea typeface="Calibri"/>
                <a:cs typeface="Calibri"/>
                <a:sym typeface="Calibri"/>
              </a:rPr>
              <a:t>ARCHITECTURE BLUEPRINT FOR IBM BOB:</a:t>
            </a:r>
            <a:endParaRPr lang="en-US" sz="2800" u="sng" dirty="0">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4346075" y="2831690"/>
            <a:ext cx="2652976" cy="143005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885B7495-A1AD-4218-2472-DD79DB6864B9}"/>
              </a:ext>
            </a:extLst>
          </p:cNvPr>
          <p:cNvPicPr>
            <a:picLocks noChangeAspect="1"/>
          </p:cNvPicPr>
          <p:nvPr/>
        </p:nvPicPr>
        <p:blipFill>
          <a:blip r:embed="rId4"/>
          <a:stretch>
            <a:fillRect/>
          </a:stretch>
        </p:blipFill>
        <p:spPr>
          <a:xfrm>
            <a:off x="1081548" y="1120877"/>
            <a:ext cx="9891252" cy="477847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u="sng" dirty="0">
                <a:effectLst>
                  <a:outerShdw blurRad="38100" dist="38100" dir="2700000" algn="tl">
                    <a:srgbClr val="000000">
                      <a:alpha val="43137"/>
                    </a:srgbClr>
                  </a:outerShdw>
                </a:effectLst>
              </a:rPr>
              <a:t>ROLE OF AGENTIC AI IN THE SOLUTION </a:t>
            </a:r>
            <a:endParaRPr lang="en-IN" sz="3200" b="1" u="sng"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01314"/>
          </a:xfrm>
          <a:prstGeom prst="rect">
            <a:avLst/>
          </a:prstGeom>
          <a:noFill/>
        </p:spPr>
        <p:txBody>
          <a:bodyPr wrap="square" rtlCol="0">
            <a:spAutoFit/>
          </a:bodyPr>
          <a:lstStyle/>
          <a:p>
            <a:r>
              <a:rPr lang="en-US" sz="2000" b="1" u="sng" dirty="0"/>
              <a:t>ROLE OF AGENTIC AI IN NUTRITION AGENT</a:t>
            </a:r>
          </a:p>
          <a:p>
            <a:endParaRPr lang="en-US" b="1" u="sng" dirty="0"/>
          </a:p>
          <a:p>
            <a:r>
              <a:rPr lang="en-US" sz="1600" b="1" dirty="0"/>
              <a:t>Agentic ai</a:t>
            </a:r>
            <a:r>
              <a:rPr lang="en-US" sz="1600" dirty="0"/>
              <a:t> enables the nutrition agent to function as an intelligent, autonomous system rather than a simple chatbot. Using </a:t>
            </a:r>
            <a:r>
              <a:rPr lang="en-US" sz="1600" b="1" dirty="0" err="1"/>
              <a:t>ibm</a:t>
            </a:r>
            <a:r>
              <a:rPr lang="en-US" sz="1600" b="1" dirty="0"/>
              <a:t> </a:t>
            </a:r>
            <a:r>
              <a:rPr lang="en-US" sz="1600" b="1" dirty="0" err="1"/>
              <a:t>watsonx.Ai</a:t>
            </a:r>
            <a:r>
              <a:rPr lang="en-US" sz="1600" dirty="0"/>
              <a:t> and </a:t>
            </a:r>
            <a:r>
              <a:rPr lang="en-US" sz="1600" b="1" dirty="0" err="1"/>
              <a:t>ibm</a:t>
            </a:r>
            <a:r>
              <a:rPr lang="en-US" sz="1600" b="1" dirty="0"/>
              <a:t> granite models</a:t>
            </a:r>
            <a:r>
              <a:rPr lang="en-US" sz="1600" dirty="0"/>
              <a:t>, it coordinates multiple specialized agents to deliver personalized nutrition guidance.</a:t>
            </a:r>
          </a:p>
          <a:p>
            <a:r>
              <a:rPr lang="en-US" sz="1600" dirty="0"/>
              <a:t>Each agent performs a specific role—such as retrieving nutritional data, generating diet plans, providing health advice, and analyzing food logs—while working collaboratively. This </a:t>
            </a:r>
            <a:r>
              <a:rPr lang="en-US" sz="1600" b="1" dirty="0"/>
              <a:t>multi-agent approach</a:t>
            </a:r>
            <a:r>
              <a:rPr lang="en-US" sz="1600" dirty="0"/>
              <a:t> ensures efficient task execution and accurate results.</a:t>
            </a:r>
          </a:p>
          <a:p>
            <a:r>
              <a:rPr lang="en-US" sz="1600" dirty="0"/>
              <a:t>Agentic ai also brings </a:t>
            </a:r>
            <a:r>
              <a:rPr lang="en-US" sz="1600" b="1" dirty="0"/>
              <a:t>context awareness</a:t>
            </a:r>
            <a:r>
              <a:rPr lang="en-US" sz="1600" dirty="0"/>
              <a:t>, understanding user details like age, health conditions, and fitness goals to generate tailored recommendations. It supports </a:t>
            </a:r>
            <a:r>
              <a:rPr lang="en-US" sz="1600" b="1" dirty="0"/>
              <a:t>real-time adaptation</a:t>
            </a:r>
            <a:r>
              <a:rPr lang="en-US" sz="1600" dirty="0"/>
              <a:t>, continuously updating suggestions based on user inputs like daily meals.</a:t>
            </a:r>
          </a:p>
          <a:p>
            <a:r>
              <a:rPr lang="en-US" sz="1600" dirty="0"/>
              <a:t>Additionally, agents communicate with each other, enabling better decision-making and improved outcomes.</a:t>
            </a:r>
          </a:p>
          <a:p>
            <a:r>
              <a:rPr lang="en-US" sz="1600" dirty="0"/>
              <a:t>Overall, agentic ai makes the system proactive, personalized, and goal-driven, acting like a </a:t>
            </a:r>
            <a:r>
              <a:rPr lang="en-US" sz="1600" b="1" dirty="0"/>
              <a:t>smart digital nutritionist</a:t>
            </a:r>
            <a:r>
              <a:rPr lang="en-US" sz="1600"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u="sng" dirty="0">
                <a:effectLst>
                  <a:outerShdw blurRad="38100" dist="38100" dir="2700000" algn="tl">
                    <a:srgbClr val="000000">
                      <a:alpha val="43137"/>
                    </a:srgbClr>
                  </a:outerShdw>
                </a:effectLst>
                <a:sym typeface="Times New Roman"/>
              </a:rPr>
              <a:t>TOKEN USAGE </a:t>
            </a: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189227" y="5423364"/>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7842633" y="2175364"/>
            <a:ext cx="2615578" cy="1466679"/>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1218724" y="2246204"/>
            <a:ext cx="2369535" cy="1182796"/>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8791D505-67BD-6352-6C47-0D7357A6EBB1}"/>
              </a:ext>
            </a:extLst>
          </p:cNvPr>
          <p:cNvPicPr>
            <a:picLocks noChangeAspect="1"/>
          </p:cNvPicPr>
          <p:nvPr/>
        </p:nvPicPr>
        <p:blipFill>
          <a:blip r:embed="rId5"/>
          <a:stretch>
            <a:fillRect/>
          </a:stretch>
        </p:blipFill>
        <p:spPr>
          <a:xfrm>
            <a:off x="793192" y="1744663"/>
            <a:ext cx="5302808" cy="336867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B4A5F67E-48AC-62D5-AAF9-9D2D73015F38}"/>
              </a:ext>
            </a:extLst>
          </p:cNvPr>
          <p:cNvPicPr>
            <a:picLocks noChangeAspect="1"/>
          </p:cNvPicPr>
          <p:nvPr/>
        </p:nvPicPr>
        <p:blipFill>
          <a:blip r:embed="rId6"/>
          <a:stretch>
            <a:fillRect/>
          </a:stretch>
        </p:blipFill>
        <p:spPr>
          <a:xfrm>
            <a:off x="6368083" y="1744662"/>
            <a:ext cx="5302808" cy="3368673"/>
          </a:xfrm>
          <a:prstGeom prst="rect">
            <a:avLst/>
          </a:prstGeom>
        </p:spPr>
      </p:pic>
      <p:sp>
        <p:nvSpPr>
          <p:cNvPr id="7" name="TextBox 6">
            <a:extLst>
              <a:ext uri="{FF2B5EF4-FFF2-40B4-BE49-F238E27FC236}">
                <a16:creationId xmlns:a16="http://schemas.microsoft.com/office/drawing/2014/main" id="{51619CB5-F78B-63FB-B8FB-AEF05F0C52E1}"/>
              </a:ext>
            </a:extLst>
          </p:cNvPr>
          <p:cNvSpPr txBox="1"/>
          <p:nvPr/>
        </p:nvSpPr>
        <p:spPr>
          <a:xfrm>
            <a:off x="793193" y="5382535"/>
            <a:ext cx="10877698" cy="1169551"/>
          </a:xfrm>
          <a:prstGeom prst="rect">
            <a:avLst/>
          </a:prstGeom>
          <a:noFill/>
        </p:spPr>
        <p:txBody>
          <a:bodyPr wrap="square" rtlCol="0">
            <a:spAutoFit/>
          </a:bodyPr>
          <a:lstStyle/>
          <a:p>
            <a:r>
              <a:rPr lang="en-US" b="1" u="sng" dirty="0">
                <a:effectLst>
                  <a:outerShdw blurRad="38100" dist="38100" dir="2700000" algn="tl">
                    <a:srgbClr val="000000">
                      <a:alpha val="43137"/>
                    </a:srgbClr>
                  </a:outerShdw>
                </a:effectLst>
              </a:rPr>
              <a:t>*NOTE :</a:t>
            </a:r>
          </a:p>
          <a:p>
            <a:r>
              <a:rPr lang="en-US" dirty="0"/>
              <a:t>             ~ While I creating my project by </a:t>
            </a:r>
            <a:r>
              <a:rPr lang="en-US" dirty="0" err="1"/>
              <a:t>iBM</a:t>
            </a:r>
            <a:r>
              <a:rPr lang="en-US" dirty="0"/>
              <a:t> BOB.</a:t>
            </a:r>
            <a:br>
              <a:rPr lang="en-US" dirty="0"/>
            </a:br>
            <a:r>
              <a:rPr lang="en-US" dirty="0"/>
              <a:t>             ~ In my IBM Cloud, IBM </a:t>
            </a:r>
            <a:r>
              <a:rPr lang="en-US" dirty="0" err="1"/>
              <a:t>watsonx</a:t>
            </a:r>
            <a:r>
              <a:rPr lang="en-US" dirty="0"/>
              <a:t> Studio is not responding.</a:t>
            </a:r>
          </a:p>
          <a:p>
            <a:r>
              <a:rPr lang="en-US" dirty="0"/>
              <a:t>             ~ That’s why I used the </a:t>
            </a:r>
            <a:r>
              <a:rPr lang="en-US" dirty="0" err="1"/>
              <a:t>Url,Model</a:t>
            </a:r>
            <a:r>
              <a:rPr lang="en-US" dirty="0"/>
              <a:t> </a:t>
            </a:r>
            <a:r>
              <a:rPr lang="en-US" dirty="0" err="1"/>
              <a:t>ID,Project</a:t>
            </a:r>
            <a:r>
              <a:rPr lang="en-US" dirty="0"/>
              <a:t> ID, which id done in the online session class.</a:t>
            </a:r>
          </a:p>
          <a:p>
            <a:r>
              <a:rPr lang="en-US" dirty="0"/>
              <a:t>             ~ Kindly , Please accept this </a:t>
            </a:r>
            <a:r>
              <a:rPr lang="en-US" dirty="0" err="1"/>
              <a:t>inconvinence</a:t>
            </a:r>
            <a:r>
              <a:rPr lang="en-US" dirty="0"/>
              <a:t>.</a:t>
            </a:r>
            <a:endParaRPr lang="en-IN" dirty="0"/>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800" b="1" u="sng" dirty="0">
                <a:effectLst>
                  <a:outerShdw blurRad="38100" dist="38100" dir="2700000" algn="tl">
                    <a:srgbClr val="000000">
                      <a:alpha val="43137"/>
                    </a:srgbClr>
                  </a:outerShdw>
                </a:effectLst>
                <a:sym typeface="Times New Roman"/>
              </a:rPr>
              <a:t>PROJECT OUTPUT SCREENSHOT</a:t>
            </a:r>
            <a:endParaRPr sz="2800" b="1" u="sng" dirty="0">
              <a:effectLst>
                <a:outerShdw blurRad="38100" dist="38100" dir="2700000" algn="tl">
                  <a:srgbClr val="000000">
                    <a:alpha val="43137"/>
                  </a:srgbClr>
                </a:outerShdw>
              </a:effectLst>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907729" y="816977"/>
            <a:ext cx="1016670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1104759" y="1004536"/>
            <a:ext cx="940732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24867" y="800029"/>
            <a:ext cx="10542265"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u="sng" dirty="0"/>
              <a:t>NOVELTY AND UNIQUENESS</a:t>
            </a:r>
            <a:endParaRPr lang="en-IN" sz="2400" b="1" u="sng"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IN" sz="1800" dirty="0"/>
              <a:t>The proposed Nutrition Agent stands out by combining </a:t>
            </a:r>
            <a:r>
              <a:rPr lang="en-IN" sz="1800" b="1" dirty="0">
                <a:highlight>
                  <a:srgbClr val="FFFF00"/>
                </a:highlight>
              </a:rPr>
              <a:t>Agentic AI and personalization</a:t>
            </a:r>
            <a:r>
              <a:rPr lang="en-IN" sz="1800" dirty="0">
                <a:highlight>
                  <a:srgbClr val="FFFF00"/>
                </a:highlight>
              </a:rPr>
              <a:t> </a:t>
            </a:r>
            <a:r>
              <a:rPr lang="en-IN" sz="1800" dirty="0"/>
              <a:t>into a single intelligent system.</a:t>
            </a:r>
          </a:p>
          <a:p>
            <a:endParaRPr lang="en-IN" sz="1800" dirty="0"/>
          </a:p>
          <a:p>
            <a:r>
              <a:rPr lang="en-IN" sz="1800" b="1" dirty="0">
                <a:highlight>
                  <a:srgbClr val="FFFF00"/>
                </a:highlight>
              </a:rPr>
              <a:t>*Multi-Agent Intelligence</a:t>
            </a:r>
            <a:r>
              <a:rPr lang="en-IN" sz="1800" dirty="0">
                <a:highlight>
                  <a:srgbClr val="FFFF00"/>
                </a:highlight>
              </a:rPr>
              <a:t> – </a:t>
            </a:r>
            <a:r>
              <a:rPr lang="en-IN" sz="1800" dirty="0"/>
              <a:t>Instead of a single chatbot, multiple specialized agents collaborate to deliver accurate and context-aware nutrition guidance. </a:t>
            </a:r>
          </a:p>
          <a:p>
            <a:r>
              <a:rPr lang="en-IN" sz="1800" b="1" dirty="0">
                <a:highlight>
                  <a:srgbClr val="FFFF00"/>
                </a:highlight>
              </a:rPr>
              <a:t>*Hyper-Personalization</a:t>
            </a:r>
            <a:r>
              <a:rPr lang="en-IN" sz="1800" dirty="0">
                <a:highlight>
                  <a:srgbClr val="FFFF00"/>
                </a:highlight>
              </a:rPr>
              <a:t> – </a:t>
            </a:r>
            <a:r>
              <a:rPr lang="en-IN" sz="1800" dirty="0"/>
              <a:t>Tailors diet plans based on health conditions, cultural preferences, and fitness goals. </a:t>
            </a:r>
          </a:p>
          <a:p>
            <a:r>
              <a:rPr lang="en-IN" sz="1800" b="1" dirty="0">
                <a:highlight>
                  <a:srgbClr val="FFFF00"/>
                </a:highlight>
              </a:rPr>
              <a:t>*Real-Time Feedback Loop</a:t>
            </a:r>
            <a:r>
              <a:rPr lang="en-IN" sz="1800" dirty="0">
                <a:highlight>
                  <a:srgbClr val="FFFF00"/>
                </a:highlight>
              </a:rPr>
              <a:t> – </a:t>
            </a:r>
            <a:r>
              <a:rPr lang="en-IN" sz="1800" dirty="0"/>
              <a:t>Continuously adapts recommendations based on daily food logs and user </a:t>
            </a:r>
            <a:r>
              <a:rPr lang="en-IN" sz="1800" dirty="0" err="1"/>
              <a:t>behavior</a:t>
            </a:r>
            <a:r>
              <a:rPr lang="en-IN" sz="1800" dirty="0"/>
              <a:t>. </a:t>
            </a:r>
          </a:p>
          <a:p>
            <a:r>
              <a:rPr lang="en-IN" sz="1800" b="1" dirty="0">
                <a:highlight>
                  <a:srgbClr val="FFFF00"/>
                </a:highlight>
              </a:rPr>
              <a:t>*Multi-Modal Input</a:t>
            </a:r>
            <a:r>
              <a:rPr lang="en-IN" sz="1800" dirty="0">
                <a:highlight>
                  <a:srgbClr val="FFFF00"/>
                </a:highlight>
              </a:rPr>
              <a:t> –</a:t>
            </a:r>
            <a:r>
              <a:rPr lang="en-IN" sz="1800" dirty="0"/>
              <a:t> Supports text, voice, and image-based meal tracking for better usability. </a:t>
            </a:r>
          </a:p>
          <a:p>
            <a:r>
              <a:rPr lang="en-IN" sz="1800" b="1" dirty="0">
                <a:highlight>
                  <a:srgbClr val="FFFF00"/>
                </a:highlight>
              </a:rPr>
              <a:t>*Preventive Healthcare Focus</a:t>
            </a:r>
            <a:r>
              <a:rPr lang="en-IN" sz="1800" dirty="0">
                <a:highlight>
                  <a:srgbClr val="FFFF00"/>
                </a:highlight>
              </a:rPr>
              <a:t> –</a:t>
            </a:r>
            <a:r>
              <a:rPr lang="en-IN" sz="1800" dirty="0"/>
              <a:t> Goes beyond diet planning to provide disease-specific nutrition advice. </a:t>
            </a:r>
          </a:p>
          <a:p>
            <a:r>
              <a:rPr lang="en-IN" sz="1800" b="1" dirty="0">
                <a:highlight>
                  <a:srgbClr val="FFFF00"/>
                </a:highlight>
              </a:rPr>
              <a:t>*Scalable &amp; Enterprise-Ready</a:t>
            </a:r>
            <a:r>
              <a:rPr lang="en-IN" sz="1800" dirty="0">
                <a:highlight>
                  <a:srgbClr val="FFFF00"/>
                </a:highlight>
              </a:rPr>
              <a:t> – </a:t>
            </a:r>
            <a:r>
              <a:rPr lang="en-IN" sz="1800" dirty="0"/>
              <a:t>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highlight>
                  <a:srgbClr val="FFFF00"/>
                </a:highlight>
              </a:rPr>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u="sng" dirty="0">
                <a:effectLst>
                  <a:outerShdw blurRad="38100" dist="38100" dir="2700000" algn="tl">
                    <a:srgbClr val="000000">
                      <a:alpha val="43137"/>
                    </a:srgbClr>
                  </a:outerShdw>
                </a:effectLst>
                <a:sym typeface="Times New Roman"/>
              </a:rPr>
              <a:t>GIT HUB LINK</a:t>
            </a: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1FE24865-E9F0-963D-063F-141953057F06}"/>
              </a:ext>
            </a:extLst>
          </p:cNvPr>
          <p:cNvSpPr txBox="1"/>
          <p:nvPr/>
        </p:nvSpPr>
        <p:spPr>
          <a:xfrm>
            <a:off x="2998838" y="1542599"/>
            <a:ext cx="4791696" cy="307777"/>
          </a:xfrm>
          <a:prstGeom prst="rect">
            <a:avLst/>
          </a:prstGeom>
          <a:noFill/>
        </p:spPr>
        <p:txBody>
          <a:bodyPr wrap="none" rtlCol="0">
            <a:spAutoFit/>
          </a:bodyPr>
          <a:lstStyle/>
          <a:p>
            <a:r>
              <a:rPr lang="en-IN" dirty="0"/>
              <a:t>https://github.com/premkumarn26/NUTRITION-AGENT.git</a:t>
            </a: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u="sng" dirty="0">
                <a:sym typeface="Times New Roman"/>
              </a:rPr>
              <a:t>FUTURE SCOPE </a:t>
            </a: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effectLst>
                  <a:outerShdw blurRad="38100" dist="38100" dir="2700000" algn="tl">
                    <a:srgbClr val="000000">
                      <a:alpha val="43137"/>
                    </a:srgbClr>
                  </a:outerShdw>
                </a:effectLst>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effectLst>
                  <a:outerShdw blurRad="38100" dist="38100" dir="2700000" algn="tl">
                    <a:srgbClr val="000000">
                      <a:alpha val="43137"/>
                    </a:srgbClr>
                  </a:outerShdw>
                </a:effectLst>
                <a:latin typeface="Times New Roman"/>
                <a:ea typeface="Times New Roman"/>
                <a:cs typeface="Times New Roman"/>
                <a:sym typeface="Times New Roman"/>
              </a:rPr>
              <a:t>2.</a:t>
            </a:r>
            <a:r>
              <a:rPr lang="en-US" sz="1850" b="1" i="0" u="none" strike="noStrike" cap="none" dirty="0">
                <a:solidFill>
                  <a:srgbClr val="2B3541"/>
                </a:solidFill>
                <a:effectLst>
                  <a:outerShdw blurRad="38100" dist="38100" dir="2700000" algn="tl">
                    <a:srgbClr val="000000">
                      <a:alpha val="43137"/>
                    </a:srgbClr>
                  </a:outerShdw>
                </a:effectLst>
                <a:latin typeface="Times New Roman"/>
                <a:ea typeface="Times New Roman"/>
                <a:cs typeface="Times New Roman"/>
                <a:sym typeface="Times New Roman"/>
              </a:rPr>
              <a:t>AI-POWERED VOICE ASSISTANT &amp; MULTILINGUAL SUPPORT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481781" y="156593"/>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t>CERTIFICATES EARNED:</a:t>
            </a:r>
          </a:p>
          <a:p>
            <a:pPr algn="ctr"/>
            <a:endParaRPr lang="en-US" dirty="0"/>
          </a:p>
        </p:txBody>
      </p:sp>
      <p:grpSp>
        <p:nvGrpSpPr>
          <p:cNvPr id="8" name="Group 7">
            <a:extLst>
              <a:ext uri="{FF2B5EF4-FFF2-40B4-BE49-F238E27FC236}">
                <a16:creationId xmlns:a16="http://schemas.microsoft.com/office/drawing/2014/main" id="{F8E1A664-937F-0995-A503-E9C101158D8C}"/>
              </a:ext>
            </a:extLst>
          </p:cNvPr>
          <p:cNvGrpSpPr/>
          <p:nvPr/>
        </p:nvGrpSpPr>
        <p:grpSpPr>
          <a:xfrm>
            <a:off x="3598605" y="1965207"/>
            <a:ext cx="4156261" cy="3464068"/>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card with a blue border&#10;&#10;AI-generated content may be incorrect.">
            <a:extLst>
              <a:ext uri="{FF2B5EF4-FFF2-40B4-BE49-F238E27FC236}">
                <a16:creationId xmlns:a16="http://schemas.microsoft.com/office/drawing/2014/main" id="{4566438F-ABDF-23B7-E907-6A08F5C38AD2}"/>
              </a:ext>
            </a:extLst>
          </p:cNvPr>
          <p:cNvPicPr>
            <a:picLocks noChangeAspect="1"/>
          </p:cNvPicPr>
          <p:nvPr/>
        </p:nvPicPr>
        <p:blipFill>
          <a:blip r:embed="rId3"/>
          <a:stretch>
            <a:fillRect/>
          </a:stretch>
        </p:blipFill>
        <p:spPr>
          <a:xfrm>
            <a:off x="2239541" y="1081549"/>
            <a:ext cx="7516274" cy="5165863"/>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668310" y="211483"/>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sng" strike="noStrike" baseline="0" dirty="0">
                <a:solidFill>
                  <a:srgbClr val="000000"/>
                </a:solidFill>
                <a:latin typeface="Arial"/>
              </a:rPr>
              <a:t>CERTIFICATES EARNED</a:t>
            </a:r>
            <a:r>
              <a:rPr lang="en-US" sz="2400" b="1" i="0" u="sng" strike="noStrike" baseline="0" dirty="0">
                <a:solidFill>
                  <a:srgbClr val="000000"/>
                </a:solidFill>
                <a:latin typeface="Arial"/>
              </a:rPr>
              <a:t>:</a:t>
            </a:r>
            <a:r>
              <a:rPr lang="en-US" sz="2400" b="1" i="0" u="sng" dirty="0">
                <a:solidFill>
                  <a:srgbClr val="000000"/>
                </a:solidFill>
                <a:latin typeface="Arial"/>
                <a:ea typeface="Arial"/>
                <a:cs typeface="Arial"/>
              </a:rPr>
              <a:t>​</a:t>
            </a:r>
            <a:endParaRPr lang="en-US" b="1" u="sng" dirty="0"/>
          </a:p>
          <a:p>
            <a:pPr algn="ctr"/>
            <a:endParaRPr lang="en-US" dirty="0"/>
          </a:p>
        </p:txBody>
      </p:sp>
      <p:pic>
        <p:nvPicPr>
          <p:cNvPr id="8" name="Picture 7" descr="A certificate with a yellow light bulb&#10;&#10;AI-generated content may be incorrect.">
            <a:extLst>
              <a:ext uri="{FF2B5EF4-FFF2-40B4-BE49-F238E27FC236}">
                <a16:creationId xmlns:a16="http://schemas.microsoft.com/office/drawing/2014/main" id="{24C2FD86-C4B7-CE3A-8C97-DD60DAC317E6}"/>
              </a:ext>
            </a:extLst>
          </p:cNvPr>
          <p:cNvPicPr>
            <a:picLocks noChangeAspect="1"/>
          </p:cNvPicPr>
          <p:nvPr/>
        </p:nvPicPr>
        <p:blipFill>
          <a:blip r:embed="rId3"/>
          <a:stretch>
            <a:fillRect/>
          </a:stretch>
        </p:blipFill>
        <p:spPr>
          <a:xfrm>
            <a:off x="2501711" y="1071716"/>
            <a:ext cx="7528690" cy="5299497"/>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D8CAB-5E31-E69B-5F84-535A01707439}"/>
              </a:ext>
            </a:extLst>
          </p:cNvPr>
          <p:cNvSpPr>
            <a:spLocks noGrp="1"/>
          </p:cNvSpPr>
          <p:nvPr>
            <p:ph type="title"/>
          </p:nvPr>
        </p:nvSpPr>
        <p:spPr>
          <a:xfrm>
            <a:off x="2414844" y="677351"/>
            <a:ext cx="10515600" cy="2852737"/>
          </a:xfrm>
        </p:spPr>
        <p:txBody>
          <a:bodyPr>
            <a:normAutofit/>
          </a:bodyPr>
          <a:lstStyle/>
          <a:p>
            <a:r>
              <a:rPr lang="en-US" sz="9600" b="1" dirty="0">
                <a:solidFill>
                  <a:schemeClr val="accent1">
                    <a:lumMod val="50000"/>
                  </a:schemeClr>
                </a:solidFill>
                <a:effectLst>
                  <a:outerShdw blurRad="38100" dist="38100" dir="2700000" algn="tl">
                    <a:srgbClr val="000000">
                      <a:alpha val="43137"/>
                    </a:srgbClr>
                  </a:outerShdw>
                </a:effectLst>
              </a:rPr>
              <a:t>THANK YOU!</a:t>
            </a:r>
            <a:endParaRPr lang="en-IN" sz="9600" b="1" dirty="0">
              <a:solidFill>
                <a:schemeClr val="accent1">
                  <a:lumMod val="50000"/>
                </a:schemeClr>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id="{6392092D-3507-E571-813F-20B69384AD02}"/>
              </a:ext>
            </a:extLst>
          </p:cNvPr>
          <p:cNvSpPr>
            <a:spLocks noGrp="1"/>
          </p:cNvSpPr>
          <p:nvPr>
            <p:ph type="body" idx="1"/>
          </p:nvPr>
        </p:nvSpPr>
        <p:spPr>
          <a:xfrm>
            <a:off x="1008830" y="3530088"/>
            <a:ext cx="10515600" cy="916602"/>
          </a:xfrm>
        </p:spPr>
        <p:txBody>
          <a:bodyPr>
            <a:normAutofit fontScale="92500"/>
          </a:bodyPr>
          <a:lstStyle/>
          <a:p>
            <a:r>
              <a:rPr lang="en-US" sz="4400" b="1" dirty="0">
                <a:solidFill>
                  <a:schemeClr val="bg2">
                    <a:lumMod val="75000"/>
                  </a:schemeClr>
                </a:solidFill>
              </a:rPr>
              <a:t>“THANK YOU FOR YOUR TIME AND INTEREST”</a:t>
            </a:r>
            <a:endParaRPr lang="en-IN" sz="4400" b="1" dirty="0">
              <a:solidFill>
                <a:schemeClr val="bg2">
                  <a:lumMod val="75000"/>
                </a:schemeClr>
              </a:solidFill>
            </a:endParaRPr>
          </a:p>
        </p:txBody>
      </p:sp>
    </p:spTree>
    <p:extLst>
      <p:ext uri="{BB962C8B-B14F-4D97-AF65-F5344CB8AC3E}">
        <p14:creationId xmlns:p14="http://schemas.microsoft.com/office/powerpoint/2010/main" val="71193964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1390</Words>
  <Application>Microsoft Office PowerPoint</Application>
  <PresentationFormat>Widescreen</PresentationFormat>
  <Paragraphs>139</Paragraphs>
  <Slides>20</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VALAR MORGHULIS</cp:lastModifiedBy>
  <cp:revision>3</cp:revision>
  <dcterms:created xsi:type="dcterms:W3CDTF">2025-07-08T05:06:56Z</dcterms:created>
  <dcterms:modified xsi:type="dcterms:W3CDTF">2026-09-11T16:12:02Z</dcterms:modified>
</cp:coreProperties>
</file>